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-1097280" y="3017520"/>
            <a:ext cx="3200400" cy="320040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38912"/>
            <a:ext cx="3108960" cy="3657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8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COMPUTER GRAPHICS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98755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548640" y="16642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Projections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548640" y="2514600"/>
            <a:ext cx="45720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6700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0A4AE"/>
                </a:solidFill>
              </a:rPr>
              <a:t>From 3D World to 2D Screen: Mathematical Foundations of Projection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</a:rPr>
              <a:t>Computer Graphics  |  3D Rendering Pipeline  |  Projection Mathematics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78992"/>
            <a:ext cx="5029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33856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What is Projection?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426464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Concept &amp; need for 3D→2D transformation in graphics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47088"/>
            <a:ext cx="502920" cy="6583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470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0195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Parallel Projection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Orthographic &amp; oblique: principles and math formulas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15184"/>
            <a:ext cx="5029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151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70048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Perspective Projection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962656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COP, vanishing points, and mathematical derivation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502920" cy="6583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43814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Projection Matrices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OpenGL glOrtho / glFrustum / gluPerspective deep-dive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513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51376"/>
            <a:ext cx="5029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513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062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Comparison &amp; Applications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49884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Key differences, use cases, and rendering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What is Projection?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49808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64008" cy="74980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6070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Definition: The process of mapping 3D objects onto a 2D plane (the screen).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Mathematically, it is a linear transformation from a higher to a lower dimension.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931920" cy="292608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39319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Do We Need It?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• Monitors/screens are 2D surfaces
• 3D scenes cannot be displayed directly
• Depth info (z) must be encoded in 2D
• Core step in every rendering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931920" cy="292608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920240"/>
            <a:ext cx="3931920" cy="38404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Types of Projection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2487168"/>
            <a:ext cx="210312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834640"/>
            <a:ext cx="0" cy="25603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834640"/>
            <a:ext cx="0" cy="25603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090672"/>
            <a:ext cx="7772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3090672"/>
            <a:ext cx="141732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30906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Parallel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93408" y="3090672"/>
            <a:ext cx="1719072" cy="32918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309067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Perspective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419856"/>
            <a:ext cx="0" cy="246888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3666744"/>
            <a:ext cx="1417320" cy="27432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Ortho / Oblique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16368" y="3419856"/>
            <a:ext cx="0" cy="246888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3666744"/>
            <a:ext cx="1719072" cy="27432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9" name="Text 27"/>
          <p:cNvSpPr/>
          <p:nvPr/>
        </p:nvSpPr>
        <p:spPr>
          <a:xfrm>
            <a:off x="6693408" y="366674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7E"/>
                </a:solidFill>
              </a:rPr>
              <a:t>1pt / 2pt / 3pt VP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Parallel Projection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Projectors are parallel → Center of Projection (COP) is at infinity.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Object size remains constant regardless of distance from viewer (size invariance).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023360" cy="301752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01368"/>
            <a:ext cx="402336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01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Orthographic Projection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Projectors are perpendicular (90°) to the projection plane.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Used in engineering drawings, floor plans, blueprints.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2926080"/>
            <a:ext cx="1371600" cy="1005840"/>
          </a:xfrm>
          <a:prstGeom prst="rect">
            <a:avLst/>
          </a:prstGeom>
          <a:solidFill>
            <a:srgbClr val="BBDE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26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3D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Object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29968" y="3017520"/>
            <a:ext cx="804672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3429000"/>
            <a:ext cx="804672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3840480"/>
            <a:ext cx="804672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834640"/>
            <a:ext cx="64008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4114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Projection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Plane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99232" y="2926080"/>
            <a:ext cx="64008" cy="100584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0" name="Text 18"/>
          <p:cNvSpPr/>
          <p:nvPr/>
        </p:nvSpPr>
        <p:spPr>
          <a:xfrm>
            <a:off x="2999232" y="297180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Result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801368"/>
            <a:ext cx="4023360" cy="301752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801368"/>
            <a:ext cx="4023360" cy="38404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801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Oblique Projection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2494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Projectors hit the plane at an angle (≠90°).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Cabinet (L=0.5) and Cavalier (L=1) are common types.</a:t>
            </a:r>
            <a:endParaRPr lang="en-US" sz="1150" dirty="0"/>
          </a:p>
        </p:txBody>
      </p:sp>
      <p:pic>
        <p:nvPicPr>
          <p:cNvPr id="25" name="Image 0" descr="/home/claude/math_imgs/oblique_formul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9472" y="2880360"/>
            <a:ext cx="3703320" cy="4846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19472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</a:rPr>
              <a:t>where α = angle, L = foreshortening factor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10912" y="3703320"/>
            <a:ext cx="1371600" cy="1005840"/>
          </a:xfrm>
          <a:prstGeom prst="rect">
            <a:avLst/>
          </a:prstGeom>
          <a:solidFill>
            <a:srgbClr val="B2EBF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0912" y="3703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3D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Object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19088" y="3794760"/>
            <a:ext cx="6400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19088" y="4142232"/>
            <a:ext cx="6400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19088" y="4489704"/>
            <a:ext cx="6400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95744" y="3547872"/>
            <a:ext cx="64008" cy="12618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3" name="Shape 30"/>
          <p:cNvSpPr/>
          <p:nvPr/>
        </p:nvSpPr>
        <p:spPr>
          <a:xfrm>
            <a:off x="7205472" y="3657600"/>
            <a:ext cx="64008" cy="1005840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34" name="Text 31"/>
          <p:cNvSpPr/>
          <p:nvPr/>
        </p:nvSpPr>
        <p:spPr>
          <a:xfrm>
            <a:off x="7205472" y="370332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Result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Orthographic Projection — Mathematics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Basic Formula (XY Plane Projection)</a:t>
            </a:r>
            <a:endParaRPr lang="en-US" sz="1300" dirty="0"/>
          </a:p>
        </p:txBody>
      </p:sp>
      <p:pic>
        <p:nvPicPr>
          <p:cNvPr id="8" name="Image 0" descr="/home/claude/math_imgs/ortho_bas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371600"/>
            <a:ext cx="5943600" cy="484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874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The z-coordinate is simply dropped → depth information is lost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59152"/>
            <a:ext cx="4114800" cy="246888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59152"/>
            <a:ext cx="41148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359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4×4 Matrix Form</a:t>
            </a:r>
            <a:endParaRPr lang="en-US" sz="1300" dirty="0"/>
          </a:p>
        </p:txBody>
      </p:sp>
      <p:pic>
        <p:nvPicPr>
          <p:cNvPr id="13" name="Image 1" descr="/home/claude/math_imgs/ortho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2788920"/>
            <a:ext cx="2926080" cy="19202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09160" y="2359152"/>
            <a:ext cx="4069080" cy="246888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2359152"/>
            <a:ext cx="40690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23591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NDC Mapping (glOrtho)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28032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Maps view volume (Cuboid) → Normalized Device Coordinates [-1, 1]³</a:t>
            </a:r>
            <a:endParaRPr lang="en-US" sz="1150" dirty="0"/>
          </a:p>
        </p:txBody>
      </p:sp>
      <p:pic>
        <p:nvPicPr>
          <p:cNvPr id="18" name="Image 2" descr="/home/claude/math_imgs/ortho_nd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0" y="3182112"/>
            <a:ext cx="4069080" cy="8686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28032" y="4114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</a:rPr>
              <a:t>l=left, r=right, b=bottom, t=top, n=near, f=far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glOrtho — Full Projection Matrix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0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5720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glOrtho(l, r, b, t, n, f)</a:t>
            </a:r>
            <a:endParaRPr lang="en-US" sz="1300" dirty="0"/>
          </a:p>
        </p:txBody>
      </p:sp>
      <p:pic>
        <p:nvPicPr>
          <p:cNvPr id="8" name="Image 0" descr="/home/claude/math_imgs/glortho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44752"/>
            <a:ext cx="43891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1005840"/>
            <a:ext cx="365760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005840"/>
            <a:ext cx="36576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Each Part Does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1481328"/>
            <a:ext cx="777240" cy="5029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4813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Row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1499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2/(r−l)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Scale x to fit [-1,1]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2121408"/>
            <a:ext cx="777240" cy="5029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21214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Row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53328" y="2139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2/(t−b)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53328" y="2368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Scale y to fit [-1,1]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12080" y="2761488"/>
            <a:ext cx="777240" cy="5029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27614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Row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53328" y="27797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−2/(f−n)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53328" y="3008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Scale z to fit [-1,1]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212080" y="3401568"/>
            <a:ext cx="777240" cy="5029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34015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 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53328" y="34198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Translations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53328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Shift centre of cuboid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to NDC origin (0,0,0)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212080" y="4041648"/>
            <a:ext cx="777240" cy="5029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40416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Row 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53328" y="40599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[0,0,0,1]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53328" y="4288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No perspective divide;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linear transformation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Perspective Projection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All projectors converge at a single point — Center of Projection (COP).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Objects appear smaller as distance increases → mimics the human eye.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Types of Perspective Projection (by Vanishing Points)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2788920" cy="260604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12848"/>
            <a:ext cx="2788920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1-Point Perspective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1 vanishing point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Viewer faces a surface directly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Railways, corridors, tunnels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2212848"/>
            <a:ext cx="2788920" cy="260604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212848"/>
            <a:ext cx="27889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2-Point Perspective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65176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2 vanishing points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Viewer at a corner/edge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Building exteriors, architecture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212848"/>
            <a:ext cx="2788920" cy="260604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212848"/>
            <a:ext cx="278892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3-Point Perspective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65176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3 vanishing points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Looking up or down steeply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Aerial views, worm's-eye views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Perspective Projection — Mathematical Derivation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025433"/>
            <a:ext cx="8412480" cy="1719072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7190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Derivation: Similar Triangles (Pinhole Camera Model)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COP at origin, projection plane at z = d:</a:t>
            </a:r>
            <a:endParaRPr lang="en-US" sz="1200" dirty="0"/>
          </a:p>
        </p:txBody>
      </p:sp>
      <p:pic>
        <p:nvPicPr>
          <p:cNvPr id="9" name="Image 0" descr="/home/claude/math_imgs/persp_simil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627632"/>
            <a:ext cx="777240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6334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As z increases (object moves away), xp and yp shrink → perspective foreshortening!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907792"/>
            <a:ext cx="4114800" cy="192024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907792"/>
            <a:ext cx="41148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907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Homogeneous Coordinates</a:t>
            </a:r>
            <a:endParaRPr lang="en-US" sz="1300" dirty="0"/>
          </a:p>
        </p:txBody>
      </p:sp>
      <p:pic>
        <p:nvPicPr>
          <p:cNvPr id="14" name="Image 1" descr="/home/claude/math_imgs/persp_homog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37560"/>
            <a:ext cx="2560320" cy="1389888"/>
          </a:xfrm>
          <a:prstGeom prst="rect">
            <a:avLst/>
          </a:prstGeom>
        </p:spPr>
      </p:pic>
      <p:pic>
        <p:nvPicPr>
          <p:cNvPr id="15" name="Image 2" descr="/home/claude/math_imgs/persp_homog_resul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63240" y="3547872"/>
            <a:ext cx="132588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709160" y="2907792"/>
            <a:ext cx="4069080" cy="192024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09160" y="2907792"/>
            <a:ext cx="406908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3"/>
          <p:cNvSpPr/>
          <p:nvPr/>
        </p:nvSpPr>
        <p:spPr>
          <a:xfrm>
            <a:off x="4709160" y="29077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 Volume: Frustum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28032" y="333756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</a:rPr>
              <a:t>• Shape: Truncated pyramid
• Near plane (n): closest visible
• Far plane (f): farthest visible
• Field of View (FoV): cone angle
• Aspect Ratio: width / height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glFrustum — Full Projection Matrix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66344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66344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glFrustum(l, r, b, t, n, f)</a:t>
            </a:r>
            <a:endParaRPr lang="en-US" sz="1300" dirty="0"/>
          </a:p>
        </p:txBody>
      </p:sp>
      <p:pic>
        <p:nvPicPr>
          <p:cNvPr id="8" name="Image 0" descr="/home/claude/math_imgs/glfrustum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44752"/>
            <a:ext cx="448056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12080" y="1005840"/>
            <a:ext cx="356616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005840"/>
            <a:ext cx="356616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Differences from Ortho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03520" y="1481328"/>
            <a:ext cx="3200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148132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87568" y="1499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</a:rPr>
              <a:t>Row 4: [0,0,−1,0]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87568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Sets w = −z,  enabling the Perspective Divide step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03520" y="2304288"/>
            <a:ext cx="3200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230428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87568" y="23225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</a:rPr>
              <a:t>Nonlinear z-depth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8756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z maps non-linearly; near-plane gets higher precision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303520" y="3127248"/>
            <a:ext cx="3200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0" y="312724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87568" y="3145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</a:rPr>
              <a:t>Perspective Divide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687568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After matrix multiply: divide (x,y,z) by w to get NDC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03520" y="3950208"/>
            <a:ext cx="3200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0" y="395020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87568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</a:rPr>
              <a:t>Row 3 coefficients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87568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 = −(f+n)/(f−n),  B = −2fn/(f−n)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gluPerspective &amp; Matrix Derivation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gluPerspective( fovY,  aspect,  zNear,  zFar 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12064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54864" cy="5120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100584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fovY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7739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Vertical field-of-view angle (degrees)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54864" cy="5120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04288"/>
            <a:ext cx="1005840" cy="32918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3408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Viewport width / height ratio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2779776"/>
            <a:ext cx="8412480" cy="512064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79776"/>
            <a:ext cx="54864" cy="5120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71216"/>
            <a:ext cx="1005840" cy="32918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712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zNear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2907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Distance to near clipping plane (must be &gt; 0)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84124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46704"/>
            <a:ext cx="54864" cy="5120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438144"/>
            <a:ext cx="1005840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381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zFar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3474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Distance to far clipping plane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" y="3959352"/>
            <a:ext cx="5029200" cy="987552"/>
          </a:xfrm>
          <a:prstGeom prst="rect">
            <a:avLst/>
          </a:prstGeom>
          <a:solidFill>
            <a:srgbClr val="EDE7F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59352"/>
            <a:ext cx="502920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59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Derived Parameters</a:t>
            </a:r>
            <a:endParaRPr lang="en-US" sz="1200" dirty="0"/>
          </a:p>
        </p:txBody>
      </p:sp>
      <p:pic>
        <p:nvPicPr>
          <p:cNvPr id="30" name="Image 0" descr="/home/claude/math_imgs/glupersp_para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334256"/>
            <a:ext cx="4846320" cy="5486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577840" y="3959352"/>
            <a:ext cx="3200400" cy="987552"/>
          </a:xfrm>
          <a:prstGeom prst="rect">
            <a:avLst/>
          </a:prstGeom>
          <a:solidFill>
            <a:srgbClr val="EDE7F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77840" y="3959352"/>
            <a:ext cx="320040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0"/>
          <p:cNvSpPr/>
          <p:nvPr/>
        </p:nvSpPr>
        <p:spPr>
          <a:xfrm>
            <a:off x="5577840" y="3959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Resulting Matrix</a:t>
            </a:r>
            <a:endParaRPr lang="en-US" sz="1200" dirty="0"/>
          </a:p>
        </p:txBody>
      </p:sp>
      <p:pic>
        <p:nvPicPr>
          <p:cNvPr id="34" name="Image 1" descr="/home/claude/math_imgs/glupersp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4315968"/>
            <a:ext cx="301752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Parallel vs Perspective —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544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960120"/>
            <a:ext cx="3429000" cy="457200"/>
          </a:xfrm>
          <a:prstGeom prst="rect">
            <a:avLst/>
          </a:prstGeom>
          <a:solidFill>
            <a:srgbClr val="1565C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960120"/>
            <a:ext cx="3520440" cy="457200"/>
          </a:xfrm>
          <a:prstGeom prst="rect">
            <a:avLst/>
          </a:prstGeom>
          <a:solidFill>
            <a:srgbClr val="E65100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Property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74520" y="960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Parallel Projection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0" y="960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Perspective Projection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58468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458468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458468"/>
            <a:ext cx="3520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584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Projectors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74520" y="14584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Mutually parallel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14584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Converge at COP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956816"/>
            <a:ext cx="15544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1956816"/>
            <a:ext cx="342900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956816"/>
            <a:ext cx="35204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956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Size change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19568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Constant (distance-independent)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Smaller with distance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455164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2455164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455164"/>
            <a:ext cx="3520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551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Depth perception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74520" y="24551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None (no distortion)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4551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Yes (matches human eye)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953512"/>
            <a:ext cx="15544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2953512"/>
            <a:ext cx="342900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953512"/>
            <a:ext cx="35204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9535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Math complexity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74520" y="29535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Simple (linear transform)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0" y="2953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Complex (nonlinear, ÷w)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45186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3451860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3451860"/>
            <a:ext cx="3520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518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View volume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874520" y="34518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Cuboid (box)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4518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Frustum (truncated pyramid)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950208"/>
            <a:ext cx="15544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74520" y="3950208"/>
            <a:ext cx="342900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3950208"/>
            <a:ext cx="35204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9502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Depth precision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874520" y="39502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Linear distribution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03520" y="3950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Nonlinear (concentrated near)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448556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4448556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0" y="4448556"/>
            <a:ext cx="3520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4485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Primary use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874520" y="44485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CAD, engineering, 2D games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03520" y="44485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</a:rPr>
              <a:t>3D games, VR, film CG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Projection in the 3D Rendering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508760" cy="1572768"/>
          </a:xfrm>
          <a:prstGeom prst="rect">
            <a:avLst/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5087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1508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Local coords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→ World coords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(M matrix)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1847088"/>
            <a:ext cx="2103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051560"/>
            <a:ext cx="1508760" cy="1572768"/>
          </a:xfrm>
          <a:prstGeom prst="rect">
            <a:avLst/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051560"/>
            <a:ext cx="1508760" cy="4114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12264" y="1508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World coords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→ Camera space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(V matrix)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47872" y="1847088"/>
            <a:ext cx="2103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1051560"/>
            <a:ext cx="1508760" cy="1572768"/>
          </a:xfrm>
          <a:prstGeom prst="rect">
            <a:avLst/>
          </a:prstGeom>
          <a:solidFill>
            <a:srgbClr val="FFF8E1"/>
          </a:solidFill>
          <a:ln w="254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1051560"/>
            <a:ext cx="150876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3758184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31336" y="1508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Camera space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→ Clip space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(P matrix) 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66944" y="1847088"/>
            <a:ext cx="2103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77256" y="1051560"/>
            <a:ext cx="1508760" cy="1572768"/>
          </a:xfrm>
          <a:prstGeom prst="rect">
            <a:avLst/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51560"/>
            <a:ext cx="150876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77256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Perspective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Divide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50408" y="1508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Clip → NDC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(÷w)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Nonlinear step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86016" y="1847088"/>
            <a:ext cx="2103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051560"/>
            <a:ext cx="1508760" cy="1572768"/>
          </a:xfrm>
          <a:prstGeom prst="rect">
            <a:avLst/>
          </a:prstGeom>
          <a:solidFill>
            <a:srgbClr val="F8FAFF"/>
          </a:solidFill>
          <a:ln w="635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96328" y="1051560"/>
            <a:ext cx="150876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9480" y="1508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NDC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→ Screen pixels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Pixel mapping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834640"/>
            <a:ext cx="8503920" cy="65836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0" name="Image 0" descr="/home/claude/math_imgs/mv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898648"/>
            <a:ext cx="8229600" cy="50292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20040" y="3639312"/>
            <a:ext cx="8503920" cy="658368"/>
          </a:xfrm>
          <a:prstGeom prst="rect">
            <a:avLst/>
          </a:prstGeom>
          <a:solidFill>
            <a:srgbClr val="EDE7F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" y="3639312"/>
            <a:ext cx="64008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Perspective Divide:</a:t>
            </a:r>
            <a:endParaRPr lang="en-US" sz="1100" dirty="0"/>
          </a:p>
        </p:txBody>
      </p:sp>
      <p:pic>
        <p:nvPicPr>
          <p:cNvPr id="34" name="Image 1" descr="/home/claude/math_imgs/persp_divi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20240" y="3657600"/>
            <a:ext cx="6675120" cy="58521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20040" y="4480560"/>
            <a:ext cx="2743200" cy="621792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20040" y="4480560"/>
            <a:ext cx="2743200" cy="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Shape 33"/>
          <p:cNvSpPr/>
          <p:nvPr/>
        </p:nvSpPr>
        <p:spPr>
          <a:xfrm>
            <a:off x="320040" y="4480560"/>
            <a:ext cx="2743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8" name="Text 34"/>
          <p:cNvSpPr/>
          <p:nvPr/>
        </p:nvSpPr>
        <p:spPr>
          <a:xfrm>
            <a:off x="429768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  (Model)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29768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Position, rotation, scale of each object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3154680" y="4480560"/>
            <a:ext cx="2743200" cy="621792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3154680" y="4480560"/>
            <a:ext cx="2743200" cy="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2" name="Shape 38"/>
          <p:cNvSpPr/>
          <p:nvPr/>
        </p:nvSpPr>
        <p:spPr>
          <a:xfrm>
            <a:off x="3154680" y="4480560"/>
            <a:ext cx="27432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3" name="Text 39"/>
          <p:cNvSpPr/>
          <p:nvPr/>
        </p:nvSpPr>
        <p:spPr>
          <a:xfrm>
            <a:off x="3264408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V  (View)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264408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Camera position &amp; orientation (lookAt)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5989320" y="4480560"/>
            <a:ext cx="2743200" cy="621792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5989320" y="4480560"/>
            <a:ext cx="2743200" cy="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7" name="Shape 43"/>
          <p:cNvSpPr/>
          <p:nvPr/>
        </p:nvSpPr>
        <p:spPr>
          <a:xfrm>
            <a:off x="5989320" y="4480560"/>
            <a:ext cx="27432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8" name="Text 44"/>
          <p:cNvSpPr/>
          <p:nvPr/>
        </p:nvSpPr>
        <p:spPr>
          <a:xfrm>
            <a:off x="6099048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P  (Projection) ★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6099048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Applies parallel or perspective — today's core topic!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Real-World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0116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CAD /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137160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Parallel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AutoCAD, SolidWorks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Exact dimension drawing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Ortho view preserves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all proportions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201168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005840"/>
            <a:ext cx="201168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3D Game Engines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572768"/>
            <a:ext cx="137160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Perspective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1938528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Unity, Unreal Engine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Realistic depth/distance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gluPerspective camera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FoV and aspect settings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201168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2011680" cy="502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Medical Imaging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572768"/>
            <a:ext cx="137160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Parallel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938528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CT/MRI visualization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Accurate anatomy ratios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Axial, coronal, sagittal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ortho views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1005840"/>
            <a:ext cx="2011680" cy="37947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005840"/>
            <a:ext cx="201168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VR / 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1572768"/>
            <a:ext cx="137160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Perspective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2008" y="1938528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Stereoscopic rendering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Separate eye cameras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Wide FoV (90°+)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Head-tracking support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84048"/>
            <a:ext cx="2011680" cy="3657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673352"/>
            <a:ext cx="347472" cy="45720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733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282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Projection is the critical P step in the MVP rendering pipeline (3D → 2D)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95144"/>
            <a:ext cx="34747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9514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Parallel: parallel projectors, size invariant, exact dimensions → CAD &amp; engineering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16936"/>
            <a:ext cx="347472" cy="45720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169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Perspective: all rays converge at COP, distance-based foreshortening → games &amp; VR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4747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387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Math core: similar triangles, homogeneous coords, Perspective Divide (÷ w)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347472" cy="45720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160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2153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OpenGL API: glOrtho / glFrustum / gluPerspective — all produce 4×4 P matrices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8138160" cy="0"/>
          </a:xfrm>
          <a:prstGeom prst="line">
            <a:avLst/>
          </a:prstGeom>
          <a:noFill/>
          <a:ln w="635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920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Computer Graphics  |  Parallel &amp; Perspective Projections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1121</Words>
  <Application>Microsoft Office PowerPoint</Application>
  <PresentationFormat>화면 슬라이드 쇼(16:9)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and Perspective Projections</dc:title>
  <dc:subject>PptxGenJS Presentation</dc:subject>
  <dc:creator>PptxGenJS</dc:creator>
  <cp:lastModifiedBy>HBKIM</cp:lastModifiedBy>
  <cp:revision>2</cp:revision>
  <dcterms:created xsi:type="dcterms:W3CDTF">2026-05-20T13:48:33Z</dcterms:created>
  <dcterms:modified xsi:type="dcterms:W3CDTF">2026-05-20T13:54:31Z</dcterms:modified>
</cp:coreProperties>
</file>